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7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95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6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2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8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37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5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96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29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SALES PERFORMANCE</a:t>
            </a:r>
            <a:br>
              <a:rPr lang="en-IN" b="1" dirty="0" smtClean="0"/>
            </a:br>
            <a:r>
              <a:rPr lang="en-IN" b="1" dirty="0" smtClean="0"/>
              <a:t>DASHBOARD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  <a:defRPr sz="2000">
                <a:solidFill>
                  <a:srgbClr val="EEF4FC"/>
                </a:solidFill>
              </a:defRPr>
            </a:pPr>
            <a:r>
              <a:rPr lang="en-IN" sz="4000" b="1" u="sng" dirty="0">
                <a:solidFill>
                  <a:schemeClr val="tx2"/>
                </a:solidFill>
              </a:rPr>
              <a:t>Power BI Analytics </a:t>
            </a:r>
            <a:r>
              <a:rPr lang="en-IN" sz="4000" b="1" u="sng" dirty="0" smtClean="0">
                <a:solidFill>
                  <a:schemeClr val="tx2"/>
                </a:solidFill>
              </a:rPr>
              <a:t>Project</a:t>
            </a:r>
            <a:endParaRPr lang="en-IN" sz="4000" b="1" u="sng" dirty="0">
              <a:solidFill>
                <a:schemeClr val="tx2"/>
              </a:solidFill>
            </a:endParaRPr>
          </a:p>
          <a:p>
            <a:pPr>
              <a:defRPr sz="2000">
                <a:solidFill>
                  <a:srgbClr val="EEF4FC"/>
                </a:solidFill>
              </a:defRPr>
            </a:pPr>
            <a:endParaRPr lang="en-IN" dirty="0" smtClean="0">
              <a:solidFill>
                <a:schemeClr val="tx2"/>
              </a:solidFill>
            </a:endParaRPr>
          </a:p>
          <a:p>
            <a:pPr>
              <a:defRPr sz="2000">
                <a:solidFill>
                  <a:srgbClr val="EEF4FC"/>
                </a:solidFill>
              </a:defRPr>
            </a:pPr>
            <a:endParaRPr lang="en-IN" dirty="0">
              <a:solidFill>
                <a:schemeClr val="tx2"/>
              </a:solidFill>
            </a:endParaRPr>
          </a:p>
          <a:p>
            <a:pPr marL="0" indent="0">
              <a:buNone/>
              <a:defRPr sz="2000">
                <a:solidFill>
                  <a:srgbClr val="EEF4FC"/>
                </a:solidFill>
              </a:defRPr>
            </a:pPr>
            <a:endParaRPr lang="en-IN" dirty="0" smtClean="0">
              <a:solidFill>
                <a:schemeClr val="tx2"/>
              </a:solidFill>
            </a:endParaRPr>
          </a:p>
          <a:p>
            <a:pPr marL="0" indent="0">
              <a:buNone/>
              <a:defRPr sz="2000">
                <a:solidFill>
                  <a:srgbClr val="EEF4FC"/>
                </a:solidFill>
              </a:defRPr>
            </a:pP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13" y="2981527"/>
            <a:ext cx="51151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EF4FC"/>
                </a:solidFill>
              </a:defRPr>
            </a:pPr>
            <a:r>
              <a:rPr sz="4800" dirty="0">
                <a:solidFill>
                  <a:schemeClr val="tx2"/>
                </a:solidFill>
              </a:rPr>
              <a:t>Presented by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rPr sz="4800" dirty="0" err="1">
                <a:solidFill>
                  <a:schemeClr val="tx2"/>
                </a:solidFill>
              </a:rPr>
              <a:t>Sudipa</a:t>
            </a:r>
            <a:r>
              <a:rPr sz="4800" dirty="0">
                <a:solidFill>
                  <a:schemeClr val="tx2"/>
                </a:solidFill>
              </a:rPr>
              <a:t> Roy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rPr sz="4800" dirty="0" err="1">
                <a:solidFill>
                  <a:schemeClr val="tx2"/>
                </a:solidFill>
              </a:rPr>
              <a:t>Saswata</a:t>
            </a:r>
            <a:r>
              <a:rPr sz="4800" dirty="0">
                <a:solidFill>
                  <a:schemeClr val="tx2"/>
                </a:solidFill>
              </a:rPr>
              <a:t> </a:t>
            </a:r>
            <a:r>
              <a:rPr sz="4800" dirty="0" err="1">
                <a:solidFill>
                  <a:schemeClr val="tx2"/>
                </a:solidFill>
              </a:rPr>
              <a:t>Pati</a:t>
            </a:r>
            <a:endParaRPr sz="4800" dirty="0">
              <a:solidFill>
                <a:schemeClr val="tx2"/>
              </a:solidFill>
            </a:endParaRP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rPr sz="4800" dirty="0" err="1">
                <a:solidFill>
                  <a:schemeClr val="tx2"/>
                </a:solidFill>
              </a:rPr>
              <a:t>Uttaran</a:t>
            </a:r>
            <a:r>
              <a:rPr sz="4800" dirty="0">
                <a:solidFill>
                  <a:schemeClr val="tx2"/>
                </a:solidFill>
              </a:rPr>
              <a:t> </a:t>
            </a:r>
            <a:r>
              <a:rPr sz="4800" dirty="0" err="1">
                <a:solidFill>
                  <a:schemeClr val="tx2"/>
                </a:solidFill>
              </a:rPr>
              <a:t>Ganguly</a:t>
            </a:r>
            <a:endParaRPr sz="4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81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561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690684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000" dirty="0">
                <a:latin typeface="Arial Rounded MT Bold" panose="020F0704030504030204" pitchFamily="34" charset="0"/>
              </a:rPr>
              <a:t>• </a:t>
            </a:r>
            <a:r>
              <a:rPr lang="en-IN" sz="2000" dirty="0" smtClean="0">
                <a:latin typeface="Arial Rounded MT Bold" panose="020F0704030504030204" pitchFamily="34" charset="0"/>
              </a:rPr>
              <a:t>This</a:t>
            </a:r>
            <a:r>
              <a:rPr sz="2000" dirty="0" smtClean="0">
                <a:latin typeface="Arial Rounded MT Bold" panose="020F0704030504030204" pitchFamily="34" charset="0"/>
              </a:rPr>
              <a:t> </a:t>
            </a:r>
            <a:r>
              <a:rPr sz="2000" dirty="0">
                <a:latin typeface="Arial Rounded MT Bold" panose="020F0704030504030204" pitchFamily="34" charset="0"/>
              </a:rPr>
              <a:t>Power BI dashboard designed to </a:t>
            </a:r>
            <a:r>
              <a:rPr sz="2000" dirty="0" smtClean="0">
                <a:latin typeface="Arial Rounded MT Bold" panose="020F0704030504030204" pitchFamily="34" charset="0"/>
              </a:rPr>
              <a:t>analyze</a:t>
            </a:r>
            <a:r>
              <a:rPr lang="en-IN" sz="2000" dirty="0" smtClean="0">
                <a:latin typeface="Arial Rounded MT Bold" panose="020F0704030504030204" pitchFamily="34" charset="0"/>
              </a:rPr>
              <a:t> a Super Store</a:t>
            </a:r>
            <a:r>
              <a:rPr sz="2000" dirty="0" smtClean="0">
                <a:latin typeface="Arial Rounded MT Bold" panose="020F0704030504030204" pitchFamily="34" charset="0"/>
              </a:rPr>
              <a:t> </a:t>
            </a:r>
            <a:r>
              <a:rPr sz="2000" dirty="0">
                <a:latin typeface="Arial Rounded MT Bold" panose="020F0704030504030204" pitchFamily="34" charset="0"/>
              </a:rPr>
              <a:t>sales performance from multiple business dimensions.</a:t>
            </a:r>
          </a:p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000" dirty="0">
                <a:latin typeface="Arial Rounded MT Bold" panose="020F0704030504030204" pitchFamily="34" charset="0"/>
              </a:rPr>
              <a:t>• The report uses an interactive dashboard to turn transactional sales data into visual insights.</a:t>
            </a:r>
          </a:p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000" dirty="0">
                <a:latin typeface="Arial Rounded MT Bold" panose="020F0704030504030204" pitchFamily="34" charset="0"/>
              </a:rPr>
              <a:t>• Users can explore performance by region, category, product, segment, shipping mode and time.</a:t>
            </a:r>
          </a:p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000" dirty="0">
                <a:latin typeface="Arial Rounded MT Bold" panose="020F0704030504030204" pitchFamily="34" charset="0"/>
              </a:rPr>
              <a:t>• The project focuses on fast visual analysis rather than manually reading raw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417320"/>
            <a:ext cx="3566160" cy="109728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35240" y="1417320"/>
            <a:ext cx="73152" cy="109728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36408" y="15544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6408" y="1984248"/>
            <a:ext cx="3246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Microsoft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743200"/>
            <a:ext cx="3566160" cy="109728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2743200"/>
            <a:ext cx="73152" cy="109728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28803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t>Core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310128"/>
            <a:ext cx="3246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Sales_Clean_Data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069080"/>
            <a:ext cx="3566160" cy="109728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4069080"/>
            <a:ext cx="73152" cy="109728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420624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t>Report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636008"/>
            <a:ext cx="3246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2 analytical pages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4120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2.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120640" cy="2029968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4865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Monitor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4719625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/>
              <a:t>Provide a clear view of overall </a:t>
            </a:r>
            <a:endParaRPr lang="en-IN" sz="28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 smtClean="0"/>
              <a:t>sales performance</a:t>
            </a:r>
            <a:r>
              <a:rPr lang="en-IN" sz="2800" dirty="0" smtClean="0"/>
              <a:t>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20640" cy="2029968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554480"/>
            <a:ext cx="38028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Compare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984248"/>
            <a:ext cx="487832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/>
              <a:t>Analyze sales across categories, </a:t>
            </a:r>
            <a:endParaRPr lang="en-IN" sz="28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 smtClean="0"/>
              <a:t>products</a:t>
            </a:r>
            <a:r>
              <a:rPr sz="2800" dirty="0"/>
              <a:t>, regions and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59"/>
            <a:ext cx="5120640" cy="2074353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703320"/>
            <a:ext cx="33026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Understand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133088"/>
            <a:ext cx="50357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/>
              <a:t>Track how sales change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66160"/>
            <a:ext cx="5120640" cy="2074352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56616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3703320"/>
            <a:ext cx="31979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Support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133088"/>
            <a:ext cx="480933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/>
              <a:t>Make patterns easier to </a:t>
            </a:r>
            <a:r>
              <a:rPr sz="2800" dirty="0" smtClean="0"/>
              <a:t>identify</a:t>
            </a:r>
            <a:endParaRPr lang="en-IN" sz="28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 smtClean="0"/>
              <a:t>through </a:t>
            </a:r>
            <a:r>
              <a:rPr sz="2800" dirty="0"/>
              <a:t>interactive visuals.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0705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3. Dashboard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40570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1600" b="1" dirty="0"/>
              <a:t>The supplied PBIX contains two report pages.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799" y="1417319"/>
            <a:ext cx="5411817" cy="507102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54480"/>
            <a:ext cx="484517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Page 1 — Sales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652" y="2481560"/>
            <a:ext cx="5175712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/>
              <a:t>• Dashboard title and interactive Region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/>
              <a:t> </a:t>
            </a:r>
            <a:r>
              <a:rPr lang="en-IN" sz="2400" dirty="0" smtClean="0"/>
              <a:t>  </a:t>
            </a:r>
            <a:r>
              <a:rPr sz="2400" dirty="0" smtClean="0"/>
              <a:t>slicer</a:t>
            </a:r>
            <a:r>
              <a:rPr sz="2400" dirty="0"/>
              <a:t/>
            </a:r>
            <a:br>
              <a:rPr sz="2400" dirty="0"/>
            </a:br>
            <a:r>
              <a:rPr sz="2400" dirty="0"/>
              <a:t>• KPI cards for Sales, Quantity and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/>
              <a:t> </a:t>
            </a:r>
            <a:r>
              <a:rPr lang="en-IN" sz="2400" dirty="0" smtClean="0"/>
              <a:t> </a:t>
            </a:r>
            <a:r>
              <a:rPr sz="2400" dirty="0" smtClean="0"/>
              <a:t>Average </a:t>
            </a:r>
            <a:r>
              <a:rPr sz="2400" dirty="0"/>
              <a:t>Delivery</a:t>
            </a:r>
            <a:br>
              <a:rPr sz="2400" dirty="0"/>
            </a:br>
            <a:r>
              <a:rPr sz="2400" dirty="0"/>
              <a:t>• Category, Product and Ship Mode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 smtClean="0"/>
              <a:t>comparisons</a:t>
            </a:r>
            <a:r>
              <a:rPr sz="2400" dirty="0"/>
              <a:t/>
            </a:r>
            <a:br>
              <a:rPr sz="2400" dirty="0"/>
            </a:br>
            <a:r>
              <a:rPr sz="2400" dirty="0"/>
              <a:t>• Regional map visualization</a:t>
            </a:r>
            <a:br>
              <a:rPr sz="2400" dirty="0"/>
            </a:br>
            <a:r>
              <a:rPr sz="2400" dirty="0"/>
              <a:t>• Segment and Ship Mode distribution</a:t>
            </a:r>
            <a:br>
              <a:rPr sz="2400" dirty="0"/>
            </a:br>
            <a:r>
              <a:rPr sz="2400" dirty="0"/>
              <a:t>• Monthly/time-series visualizations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5071028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44805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554480"/>
            <a:ext cx="44107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Page 2 — Time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3077" y="2485986"/>
            <a:ext cx="4285660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/>
              <a:t>• Sales trend over Order Date</a:t>
            </a:r>
            <a:br>
              <a:rPr sz="2400" dirty="0"/>
            </a:br>
            <a:r>
              <a:rPr sz="2400" dirty="0"/>
              <a:t>• Second time-series view for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/>
              <a:t> </a:t>
            </a:r>
            <a:r>
              <a:rPr lang="en-IN" sz="2400" dirty="0" smtClean="0"/>
              <a:t> </a:t>
            </a:r>
            <a:r>
              <a:rPr sz="2400" dirty="0" smtClean="0"/>
              <a:t>deeper temporal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/>
              <a:t> </a:t>
            </a:r>
            <a:r>
              <a:rPr lang="en-IN" sz="2400" dirty="0" smtClean="0"/>
              <a:t>  </a:t>
            </a:r>
            <a:r>
              <a:rPr sz="2400" dirty="0" smtClean="0"/>
              <a:t>comparison</a:t>
            </a:r>
            <a:r>
              <a:rPr sz="2400" dirty="0"/>
              <a:t/>
            </a:r>
            <a:br>
              <a:rPr sz="2400" dirty="0"/>
            </a:br>
            <a:r>
              <a:rPr sz="2400" dirty="0"/>
              <a:t>• Forecast-enabled line-chart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/>
              <a:t> </a:t>
            </a:r>
            <a:r>
              <a:rPr lang="en-IN" sz="2400" dirty="0" smtClean="0"/>
              <a:t> </a:t>
            </a:r>
            <a:r>
              <a:rPr sz="2400" dirty="0" smtClean="0"/>
              <a:t>configuration</a:t>
            </a:r>
            <a:r>
              <a:rPr sz="2400" dirty="0"/>
              <a:t/>
            </a:r>
            <a:br>
              <a:rPr sz="2400" dirty="0"/>
            </a:br>
            <a:r>
              <a:rPr sz="2400" dirty="0"/>
              <a:t>• Designed for observing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 smtClean="0"/>
              <a:t>  </a:t>
            </a:r>
            <a:r>
              <a:rPr sz="2400" dirty="0" smtClean="0"/>
              <a:t>movement </a:t>
            </a:r>
            <a:r>
              <a:rPr sz="2400" dirty="0"/>
              <a:t>and </a:t>
            </a:r>
            <a:r>
              <a:rPr sz="2400" dirty="0" smtClean="0"/>
              <a:t>seasonality </a:t>
            </a:r>
            <a:r>
              <a:rPr sz="2400" dirty="0"/>
              <a:t>over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lang="en-IN" sz="2400" dirty="0"/>
              <a:t> </a:t>
            </a:r>
            <a:r>
              <a:rPr lang="en-IN" sz="2400" dirty="0" smtClean="0"/>
              <a:t> </a:t>
            </a:r>
            <a:r>
              <a:rPr sz="2400" dirty="0" smtClean="0"/>
              <a:t>time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2938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4. 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57800" cy="169164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463039"/>
            <a:ext cx="10759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92807"/>
            <a:ext cx="5227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/>
              <a:t>Total sales aggregated from the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169164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463039"/>
            <a:ext cx="16818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92807"/>
            <a:ext cx="38957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/>
              <a:t>Total quantity represented by </a:t>
            </a:r>
            <a:endParaRPr lang="en-IN" sz="24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 smtClean="0"/>
              <a:t>transactions</a:t>
            </a:r>
            <a:r>
              <a:rPr sz="24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257800" cy="169164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611879"/>
            <a:ext cx="31798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Average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41648"/>
            <a:ext cx="508216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/>
              <a:t>Average delivery metric </a:t>
            </a:r>
            <a:r>
              <a:rPr sz="2800" dirty="0" smtClean="0"/>
              <a:t>available</a:t>
            </a:r>
            <a:endParaRPr lang="en-IN" sz="28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800" dirty="0" smtClean="0"/>
              <a:t>in </a:t>
            </a:r>
            <a:r>
              <a:rPr sz="2800" dirty="0"/>
              <a:t>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257800" cy="169164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73152" cy="169164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611879"/>
            <a:ext cx="11432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3200" dirty="0"/>
              <a:t>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041648"/>
            <a:ext cx="40371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/>
              <a:t>Time-based sales movement </a:t>
            </a:r>
            <a:r>
              <a:rPr sz="2400" dirty="0" smtClean="0"/>
              <a:t>for</a:t>
            </a:r>
            <a:endParaRPr lang="en-IN" sz="2400" dirty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400" dirty="0" smtClean="0"/>
              <a:t>performance </a:t>
            </a:r>
            <a:r>
              <a:rPr sz="2400" dirty="0"/>
              <a:t>monitoring.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3660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5. Visual Analytics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20440" cy="187451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3152" cy="1874519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29024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800" dirty="0"/>
              <a:t>Category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01368"/>
            <a:ext cx="29399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Clustered bar chart</a:t>
            </a:r>
            <a:br>
              <a:rPr sz="2000" dirty="0"/>
            </a:br>
            <a:r>
              <a:rPr sz="2000" dirty="0"/>
              <a:t>Compare sales by </a:t>
            </a:r>
            <a:r>
              <a:rPr sz="2000" dirty="0" smtClean="0"/>
              <a:t>product 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category</a:t>
            </a:r>
            <a:r>
              <a:rPr sz="20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520440" cy="187451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73152" cy="1874519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371600"/>
            <a:ext cx="26468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800" dirty="0"/>
              <a:t>Product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801368"/>
            <a:ext cx="352500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Clustered bar chart</a:t>
            </a:r>
            <a:br>
              <a:rPr sz="2000" dirty="0"/>
            </a:br>
            <a:r>
              <a:rPr sz="2000" dirty="0"/>
              <a:t>Identify sales contribution </a:t>
            </a:r>
            <a:r>
              <a:rPr sz="2000" dirty="0" smtClean="0"/>
              <a:t>across 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products</a:t>
            </a:r>
            <a:r>
              <a:rPr sz="20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3520440" cy="187451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234440"/>
            <a:ext cx="73152" cy="1874519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488" y="1371600"/>
            <a:ext cx="28440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800" dirty="0"/>
              <a:t>Shipping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01368"/>
            <a:ext cx="323999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Bar + donut charts</a:t>
            </a:r>
            <a:br>
              <a:rPr sz="2000" dirty="0"/>
            </a:br>
            <a:r>
              <a:rPr sz="2000" dirty="0"/>
              <a:t>Compare shipping modes </a:t>
            </a:r>
            <a:r>
              <a:rPr sz="2000" dirty="0" smtClean="0"/>
              <a:t>and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their </a:t>
            </a:r>
            <a:r>
              <a:rPr sz="2000" dirty="0"/>
              <a:t>sales share.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66160"/>
            <a:ext cx="3520440" cy="187451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566160"/>
            <a:ext cx="73152" cy="1874519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703320"/>
            <a:ext cx="2812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800" dirty="0"/>
              <a:t>Segment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133087"/>
            <a:ext cx="33369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Donut chart</a:t>
            </a:r>
            <a:br>
              <a:rPr sz="2000" dirty="0"/>
            </a:br>
            <a:r>
              <a:rPr sz="2000" dirty="0"/>
              <a:t>Show how sales are </a:t>
            </a:r>
            <a:r>
              <a:rPr sz="2000" dirty="0" smtClean="0"/>
              <a:t>distributed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across </a:t>
            </a:r>
            <a:r>
              <a:rPr sz="2000" dirty="0"/>
              <a:t>customer segments.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566160"/>
            <a:ext cx="3520440" cy="187451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3566160"/>
            <a:ext cx="73152" cy="1874519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6008" y="3703320"/>
            <a:ext cx="28581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800" dirty="0"/>
              <a:t>Regional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133087"/>
            <a:ext cx="345331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Map</a:t>
            </a:r>
            <a:br>
              <a:rPr sz="2000" dirty="0"/>
            </a:br>
            <a:r>
              <a:rPr sz="2000" dirty="0"/>
              <a:t>Display sales geographically </a:t>
            </a:r>
            <a:r>
              <a:rPr sz="2000" dirty="0" smtClean="0"/>
              <a:t>by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region</a:t>
            </a:r>
            <a:r>
              <a:rPr sz="2000"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66160"/>
            <a:ext cx="3520440" cy="1874519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3566160"/>
            <a:ext cx="73152" cy="1874519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76488" y="3703320"/>
            <a:ext cx="22541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800" dirty="0"/>
              <a:t>Time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4133087"/>
            <a:ext cx="269567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Area / line </a:t>
            </a:r>
            <a:r>
              <a:rPr sz="2000" dirty="0" smtClean="0"/>
              <a:t>charts</a:t>
            </a:r>
            <a:r>
              <a:rPr lang="en-IN" sz="2000" dirty="0" smtClean="0"/>
              <a:t>.</a:t>
            </a:r>
            <a:r>
              <a:rPr sz="2000" dirty="0"/>
              <a:t/>
            </a:r>
            <a:br>
              <a:rPr sz="2000" dirty="0"/>
            </a:br>
            <a:r>
              <a:rPr sz="2000" dirty="0"/>
              <a:t>Explore monthly and 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date-based </a:t>
            </a:r>
            <a:r>
              <a:rPr sz="2000" dirty="0"/>
              <a:t>sales trends.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4927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6. Interactivity &amp;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58368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400" dirty="0"/>
              <a:t>• Region is available as an interactive slicer on the main dashboard page.</a:t>
            </a:r>
          </a:p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400" dirty="0"/>
              <a:t>• Visual interactions allow users to investigate relationships between dimensions.</a:t>
            </a:r>
          </a:p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400" dirty="0"/>
              <a:t>• Selecting a region can change the context shown by connected visuals.</a:t>
            </a:r>
          </a:p>
          <a:p>
            <a:pPr>
              <a:spcAft>
                <a:spcPts val="1000"/>
              </a:spcAft>
              <a:defRPr sz="1700">
                <a:solidFill>
                  <a:srgbClr val="232A37"/>
                </a:solidFill>
              </a:defRPr>
            </a:pPr>
            <a:r>
              <a:rPr sz="2400" dirty="0"/>
              <a:t>• The dashboard is designed for exploratory analysis instead of a fixed static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417320"/>
            <a:ext cx="3474720" cy="118872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80960" y="1417320"/>
            <a:ext cx="73152" cy="118872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8" y="1554480"/>
            <a:ext cx="8162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8" y="1984248"/>
            <a:ext cx="10090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400"/>
              <a:t>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880360"/>
            <a:ext cx="3474720" cy="118872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80960" y="2880360"/>
            <a:ext cx="73152" cy="118872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2128" y="3017520"/>
            <a:ext cx="20569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Cross-analysis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3447288"/>
            <a:ext cx="35923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Category ↔ Product ↔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343400"/>
            <a:ext cx="3474720" cy="118872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4343400"/>
            <a:ext cx="73152" cy="118872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4480560"/>
            <a:ext cx="8034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4910328"/>
            <a:ext cx="22733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Order Date / Month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7630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7. Data &amp; Analytical Fields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 dirty="0"/>
              <a:t>Order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1732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141732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1732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41732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Segment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Ship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83464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83464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Profit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83464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Quantity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834640"/>
            <a:ext cx="187451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9124F"/>
                </a:solidFill>
              </a:defRPr>
            </a:pPr>
            <a:r>
              <a:rPr sz="2400"/>
              <a:t>AvgDelivery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42416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A37"/>
                </a:solidFill>
              </a:defRPr>
            </a:pPr>
            <a:r>
              <a:rPr sz="2400" dirty="0"/>
              <a:t>• The report is built around a cleaned sales table named </a:t>
            </a:r>
            <a:r>
              <a:rPr sz="2400" dirty="0" err="1"/>
              <a:t>Sales_Clean_Data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32A37"/>
                </a:solidFill>
              </a:defRPr>
            </a:pPr>
            <a:r>
              <a:rPr sz="2400" dirty="0"/>
              <a:t>• Measures and visual aggregations are configured directly in the Power BI report.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830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9124F"/>
                </a:solidFill>
              </a:defRPr>
            </a:pPr>
            <a:r>
              <a:rPr sz="3200" dirty="0"/>
              <a:t>8. What the Dashboard Helps Us Understand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57800" cy="128016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73152" cy="12801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371600"/>
            <a:ext cx="31659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Where sales come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01368"/>
            <a:ext cx="491038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Regional and segment views help locate </a:t>
            </a:r>
            <a:r>
              <a:rPr sz="2000" dirty="0" smtClean="0"/>
              <a:t>major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sales </a:t>
            </a:r>
            <a:r>
              <a:rPr sz="2000" dirty="0"/>
              <a:t>contributions.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57800" cy="128016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73152" cy="12801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71600"/>
            <a:ext cx="149246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What sells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01368"/>
            <a:ext cx="40722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Category and product charts provide 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product-level </a:t>
            </a:r>
            <a:r>
              <a:rPr sz="2000" dirty="0"/>
              <a:t>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5257800" cy="128016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73152" cy="12801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971800"/>
            <a:ext cx="32496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How orders are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01568"/>
            <a:ext cx="48237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Shipping-mode visuals make delivery choices 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visible</a:t>
            </a:r>
            <a:r>
              <a:rPr sz="2000"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257800" cy="128016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73152" cy="12801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971800"/>
            <a:ext cx="24247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When sales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01568"/>
            <a:ext cx="498790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Time-series charts reveal changes across dates 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and </a:t>
            </a:r>
            <a:r>
              <a:rPr sz="2000" dirty="0"/>
              <a:t>months.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5257800" cy="1280160"/>
          </a:xfrm>
          <a:prstGeom prst="roundRect">
            <a:avLst/>
          </a:prstGeom>
          <a:solidFill>
            <a:srgbClr val="EEF4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73152" cy="1280160"/>
          </a:xfrm>
          <a:prstGeom prst="rect">
            <a:avLst/>
          </a:prstGeom>
          <a:solidFill>
            <a:srgbClr val="2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572000"/>
            <a:ext cx="25909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24F"/>
                </a:solidFill>
              </a:defRPr>
            </a:pPr>
            <a:r>
              <a:rPr sz="2400" dirty="0"/>
              <a:t>How to investigate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001768"/>
            <a:ext cx="508543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/>
              <a:t>Interactive filtering lets users drill into a </a:t>
            </a:r>
            <a:r>
              <a:rPr sz="2000" dirty="0" smtClean="0"/>
              <a:t>selected</a:t>
            </a:r>
            <a:endParaRPr lang="en-IN" sz="2000" dirty="0" smtClean="0"/>
          </a:p>
          <a:p>
            <a:pPr>
              <a:defRPr sz="1200">
                <a:solidFill>
                  <a:srgbClr val="5A6473"/>
                </a:solidFill>
              </a:defRPr>
            </a:pPr>
            <a:r>
              <a:rPr sz="2000" dirty="0" smtClean="0"/>
              <a:t>business </a:t>
            </a:r>
            <a:r>
              <a:rPr sz="2000" dirty="0"/>
              <a:t>context.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4715" y="2440842"/>
            <a:ext cx="7889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 smtClean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52825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</TotalTime>
  <Words>441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Rounded MT Bold</vt:lpstr>
      <vt:lpstr>Tw Cen MT</vt:lpstr>
      <vt:lpstr>Tw Cen MT Condensed</vt:lpstr>
      <vt:lpstr>Wingdings 3</vt:lpstr>
      <vt:lpstr>Integral</vt:lpstr>
      <vt:lpstr>SALES PERFORMANCE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subject/>
  <dc:creator>Saswata Pati</dc:creator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2026-09-20T22:25:56Z</dcterms:modified>
  <cp:category/>
</cp:coreProperties>
</file>